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ptos Bold" charset="1" panose="020B0004020202020204"/>
      <p:regular r:id="rId17"/>
    </p:embeddedFont>
    <p:embeddedFont>
      <p:font typeface="Aptos" charset="1" panose="020B0004020202020204"/>
      <p:regular r:id="rId18"/>
    </p:embeddedFont>
    <p:embeddedFont>
      <p:font typeface="Canva Student Font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4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378311"/>
            <a:ext cx="18288000" cy="1816662"/>
            <a:chOff x="0" y="0"/>
            <a:chExt cx="24384000" cy="24222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2422219"/>
            </a:xfrm>
            <a:custGeom>
              <a:avLst/>
              <a:gdLst/>
              <a:ahLst/>
              <a:cxnLst/>
              <a:rect r="r" b="b" t="t" l="l"/>
              <a:pathLst>
                <a:path h="242221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22219"/>
                  </a:lnTo>
                  <a:lnTo>
                    <a:pt x="0" y="24222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729" r="25000" b="-8749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4384000" cy="236506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6048"/>
                </a:lnSpc>
              </a:pPr>
              <a:r>
                <a:rPr lang="en-US" sz="5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Agentic-RAG and Reinforcement Learning :</a:t>
              </a:r>
            </a:p>
            <a:p>
              <a:pPr algn="ctr">
                <a:lnSpc>
                  <a:spcPts val="6048"/>
                </a:lnSpc>
              </a:pPr>
              <a:r>
                <a:rPr lang="en-US" sz="56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Comparative Survey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59956" y="7582214"/>
            <a:ext cx="4676204" cy="195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Submitted By:</a:t>
            </a:r>
          </a:p>
          <a:p>
            <a:pPr algn="ctr">
              <a:lnSpc>
                <a:spcPts val="3888"/>
              </a:lnSpc>
            </a:pP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HARSHIT MANDAD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2427030400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53838" y="7582214"/>
            <a:ext cx="4676204" cy="195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Supervised By:</a:t>
            </a:r>
          </a:p>
          <a:p>
            <a:pPr algn="ctr">
              <a:lnSpc>
                <a:spcPts val="3888"/>
              </a:lnSpc>
            </a:pP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Dr. LAV UPADHYAY</a:t>
            </a:r>
          </a:p>
          <a:p>
            <a:pPr algn="ctr">
              <a:lnSpc>
                <a:spcPts val="3888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0" y="0"/>
            <a:ext cx="6261059" cy="1834115"/>
            <a:chOff x="0" y="0"/>
            <a:chExt cx="8348078" cy="2445487"/>
          </a:xfrm>
        </p:grpSpPr>
        <p:sp>
          <p:nvSpPr>
            <p:cNvPr name="Freeform 9" id="9" descr="A black and white text  AI-generated content may be incorrect."/>
            <p:cNvSpPr/>
            <p:nvPr/>
          </p:nvSpPr>
          <p:spPr>
            <a:xfrm flipH="false" flipV="false" rot="0">
              <a:off x="0" y="0"/>
              <a:ext cx="8348091" cy="2445512"/>
            </a:xfrm>
            <a:custGeom>
              <a:avLst/>
              <a:gdLst/>
              <a:ahLst/>
              <a:cxnLst/>
              <a:rect r="r" b="b" t="t" l="l"/>
              <a:pathLst>
                <a:path h="2445512" w="8348091">
                  <a:moveTo>
                    <a:pt x="0" y="0"/>
                  </a:moveTo>
                  <a:lnTo>
                    <a:pt x="8348091" y="0"/>
                  </a:lnTo>
                  <a:lnTo>
                    <a:pt x="8348091" y="2445512"/>
                  </a:lnTo>
                  <a:lnTo>
                    <a:pt x="0" y="2445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86000" y="1834115"/>
            <a:ext cx="13716000" cy="1668414"/>
            <a:chOff x="0" y="0"/>
            <a:chExt cx="18288000" cy="22245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2224547"/>
            </a:xfrm>
            <a:custGeom>
              <a:avLst/>
              <a:gdLst/>
              <a:ahLst/>
              <a:cxnLst/>
              <a:rect r="r" b="b" t="t" l="l"/>
              <a:pathLst>
                <a:path h="2224547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224547"/>
                  </a:lnTo>
                  <a:lnTo>
                    <a:pt x="0" y="22245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186" r="0" b="-11018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8288000" cy="230075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730"/>
                </a:lnSpc>
              </a:pPr>
              <a:r>
                <a:rPr lang="en-US" sz="328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School of Computer Science and Engineering</a:t>
              </a:r>
            </a:p>
            <a:p>
              <a:pPr algn="ctr">
                <a:lnSpc>
                  <a:spcPts val="4730"/>
                </a:lnSpc>
              </a:pPr>
              <a:r>
                <a:rPr lang="en-US" sz="328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Department of Computer Science and Engineering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515705" y="7807984"/>
            <a:ext cx="3364706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09586" y="7807984"/>
            <a:ext cx="3364706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57300" y="311828"/>
            <a:ext cx="15773400" cy="1988345"/>
            <a:chOff x="0" y="0"/>
            <a:chExt cx="21031200" cy="26511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Introduction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01140" y="2984183"/>
            <a:ext cx="15590520" cy="630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Large Language Models (LLMs) often produce hallucinated responses.</a:t>
            </a:r>
          </a:p>
          <a:p>
            <a:pPr algn="l" marL="906780" indent="-453390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Retrieval-Augmented Generation (RAG) improves factual grounding.</a:t>
            </a:r>
          </a:p>
          <a:p>
            <a:pPr algn="l" marL="906780" indent="-453390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Agentic RAG extends RAG using planning and multi-step reasoning.</a:t>
            </a:r>
          </a:p>
          <a:p>
            <a:pPr algn="l" marL="906780" indent="-453390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However, many systems rely on predefined orchestration strategies.</a:t>
            </a:r>
          </a:p>
          <a:p>
            <a:pPr algn="l">
              <a:lnSpc>
                <a:spcPts val="4536"/>
              </a:lnSpc>
            </a:pPr>
          </a:p>
          <a:p>
            <a:pPr algn="l" marL="906780" indent="-453390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This motivates a systematic comparative evaluation.</a:t>
            </a:r>
          </a:p>
          <a:p>
            <a:pPr algn="l">
              <a:lnSpc>
                <a:spcPts val="453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5400000">
            <a:off x="-5505" y="177857"/>
            <a:ext cx="2542946" cy="2256286"/>
          </a:xfrm>
          <a:custGeom>
            <a:avLst/>
            <a:gdLst/>
            <a:ahLst/>
            <a:cxnLst/>
            <a:rect r="r" b="b" t="t" l="l"/>
            <a:pathLst>
              <a:path h="2256286" w="2542946">
                <a:moveTo>
                  <a:pt x="0" y="0"/>
                </a:moveTo>
                <a:lnTo>
                  <a:pt x="2542946" y="0"/>
                </a:lnTo>
                <a:lnTo>
                  <a:pt x="2542946" y="2256287"/>
                </a:lnTo>
                <a:lnTo>
                  <a:pt x="0" y="2256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5855802" y="179804"/>
            <a:ext cx="2577473" cy="2286922"/>
          </a:xfrm>
          <a:custGeom>
            <a:avLst/>
            <a:gdLst/>
            <a:ahLst/>
            <a:cxnLst/>
            <a:rect r="r" b="b" t="t" l="l"/>
            <a:pathLst>
              <a:path h="2286922" w="2577473">
                <a:moveTo>
                  <a:pt x="0" y="0"/>
                </a:moveTo>
                <a:lnTo>
                  <a:pt x="2577474" y="0"/>
                </a:lnTo>
                <a:lnTo>
                  <a:pt x="2577474" y="2286921"/>
                </a:lnTo>
                <a:lnTo>
                  <a:pt x="0" y="2286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24882" y="2118987"/>
            <a:ext cx="13038237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______________________________________________________________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563150"/>
            <a:ext cx="6003669" cy="576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sz="48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Key Components</a:t>
            </a:r>
          </a:p>
          <a:p>
            <a:pPr algn="l">
              <a:lnSpc>
                <a:spcPts val="5041"/>
              </a:lnSpc>
            </a:pPr>
          </a:p>
          <a:p>
            <a:pPr algn="l" marL="1007777" indent="-503889" lvl="1">
              <a:lnSpc>
                <a:spcPts val="5041"/>
              </a:lnSpc>
              <a:buFont typeface="Arial"/>
              <a:buChar char="•"/>
            </a:pPr>
            <a:r>
              <a:rPr lang="en-US" sz="466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Retriever</a:t>
            </a:r>
          </a:p>
          <a:p>
            <a:pPr algn="l">
              <a:lnSpc>
                <a:spcPts val="5041"/>
              </a:lnSpc>
            </a:pPr>
          </a:p>
          <a:p>
            <a:pPr algn="l" marL="1007777" indent="-503889" lvl="1">
              <a:lnSpc>
                <a:spcPts val="5041"/>
              </a:lnSpc>
              <a:buFont typeface="Arial"/>
              <a:buChar char="•"/>
            </a:pPr>
            <a:r>
              <a:rPr lang="en-US" sz="466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Knowledge Base (Vector Store)</a:t>
            </a:r>
          </a:p>
          <a:p>
            <a:pPr algn="l">
              <a:lnSpc>
                <a:spcPts val="5041"/>
              </a:lnSpc>
            </a:pPr>
          </a:p>
          <a:p>
            <a:pPr algn="l" marL="1007777" indent="-503889" lvl="1">
              <a:lnSpc>
                <a:spcPts val="5041"/>
              </a:lnSpc>
              <a:buFont typeface="Arial"/>
              <a:buChar char="•"/>
            </a:pPr>
            <a:r>
              <a:rPr lang="en-US" sz="466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Generator (LLM)</a:t>
            </a:r>
          </a:p>
          <a:p>
            <a:pPr algn="l">
              <a:lnSpc>
                <a:spcPts val="5041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2215397" y="0"/>
            <a:ext cx="14466806" cy="1823639"/>
            <a:chOff x="0" y="0"/>
            <a:chExt cx="21031200" cy="2651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Background : Agentic-RAG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771470" y="3563150"/>
            <a:ext cx="5487830" cy="580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sz="48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Key Goals</a:t>
            </a:r>
          </a:p>
          <a:p>
            <a:pPr algn="l">
              <a:lnSpc>
                <a:spcPts val="4522"/>
              </a:lnSpc>
            </a:pPr>
          </a:p>
          <a:p>
            <a:pPr algn="l" marL="904084" indent="-452042" lvl="1">
              <a:lnSpc>
                <a:spcPts val="4522"/>
              </a:lnSpc>
              <a:buFont typeface="Arial"/>
              <a:buChar char="•"/>
            </a:pPr>
            <a:r>
              <a:rPr lang="en-US" sz="418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High Accuracy</a:t>
            </a:r>
          </a:p>
          <a:p>
            <a:pPr algn="l">
              <a:lnSpc>
                <a:spcPts val="4522"/>
              </a:lnSpc>
            </a:pPr>
          </a:p>
          <a:p>
            <a:pPr algn="l" marL="904084" indent="-452042" lvl="1">
              <a:lnSpc>
                <a:spcPts val="4522"/>
              </a:lnSpc>
              <a:buFont typeface="Arial"/>
              <a:buChar char="•"/>
            </a:pPr>
            <a:r>
              <a:rPr lang="en-US" sz="418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Strong Performance</a:t>
            </a:r>
          </a:p>
          <a:p>
            <a:pPr algn="l">
              <a:lnSpc>
                <a:spcPts val="4522"/>
              </a:lnSpc>
            </a:pPr>
          </a:p>
          <a:p>
            <a:pPr algn="l" marL="904084" indent="-452042" lvl="1">
              <a:lnSpc>
                <a:spcPts val="4522"/>
              </a:lnSpc>
              <a:buFont typeface="Arial"/>
              <a:buChar char="•"/>
            </a:pPr>
            <a:r>
              <a:rPr lang="en-US" sz="4187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Reduced Hallucination</a:t>
            </a: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5400000">
            <a:off x="6071975" y="5286790"/>
            <a:ext cx="6659890" cy="2288580"/>
          </a:xfrm>
          <a:custGeom>
            <a:avLst/>
            <a:gdLst/>
            <a:ahLst/>
            <a:cxnLst/>
            <a:rect r="r" b="b" t="t" l="l"/>
            <a:pathLst>
              <a:path h="2288580" w="6659890">
                <a:moveTo>
                  <a:pt x="0" y="0"/>
                </a:moveTo>
                <a:lnTo>
                  <a:pt x="6659890" y="0"/>
                </a:lnTo>
                <a:lnTo>
                  <a:pt x="6659890" y="2288580"/>
                </a:lnTo>
                <a:lnTo>
                  <a:pt x="0" y="22885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8100000">
            <a:off x="-1166249" y="-246863"/>
            <a:ext cx="3818172" cy="1922970"/>
          </a:xfrm>
          <a:custGeom>
            <a:avLst/>
            <a:gdLst/>
            <a:ahLst/>
            <a:cxnLst/>
            <a:rect r="r" b="b" t="t" l="l"/>
            <a:pathLst>
              <a:path h="1922970" w="3818172">
                <a:moveTo>
                  <a:pt x="0" y="0"/>
                </a:moveTo>
                <a:lnTo>
                  <a:pt x="3818171" y="0"/>
                </a:lnTo>
                <a:lnTo>
                  <a:pt x="3818171" y="1922970"/>
                </a:lnTo>
                <a:lnTo>
                  <a:pt x="0" y="19229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590156">
            <a:off x="15715059" y="-246863"/>
            <a:ext cx="3818172" cy="1922970"/>
          </a:xfrm>
          <a:custGeom>
            <a:avLst/>
            <a:gdLst/>
            <a:ahLst/>
            <a:cxnLst/>
            <a:rect r="r" b="b" t="t" l="l"/>
            <a:pathLst>
              <a:path h="1922970" w="3818172">
                <a:moveTo>
                  <a:pt x="0" y="0"/>
                </a:moveTo>
                <a:lnTo>
                  <a:pt x="3818172" y="0"/>
                </a:lnTo>
                <a:lnTo>
                  <a:pt x="3818172" y="1922970"/>
                </a:lnTo>
                <a:lnTo>
                  <a:pt x="0" y="19229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99121" y="1600945"/>
            <a:ext cx="14089757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___________________________________________________________________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910585"/>
            <a:ext cx="5840186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___________________________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95292" y="3910585"/>
            <a:ext cx="5840186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9700" y="0"/>
            <a:ext cx="15773400" cy="1988345"/>
            <a:chOff x="0" y="0"/>
            <a:chExt cx="21031200" cy="26511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Literature Review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0127" y="2642905"/>
            <a:ext cx="8240798" cy="664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sz="42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Surveyed Methodologies</a:t>
            </a:r>
          </a:p>
          <a:p>
            <a:pPr algn="ctr">
              <a:lnSpc>
                <a:spcPts val="4536"/>
              </a:lnSpc>
            </a:pPr>
          </a:p>
          <a:p>
            <a:pPr algn="l" marL="863601" indent="-431801" lvl="1">
              <a:lnSpc>
                <a:spcPts val="432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Traditional Agentic RAG</a:t>
            </a:r>
          </a:p>
          <a:p>
            <a:pPr algn="l" marL="863601" indent="-431801" lvl="1">
              <a:lnSpc>
                <a:spcPts val="432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Goal-Oriented Agentic RAG</a:t>
            </a:r>
          </a:p>
          <a:p>
            <a:pPr algn="l" marL="863601" indent="-431801" lvl="1">
              <a:lnSpc>
                <a:spcPts val="432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Graph-Based RAG</a:t>
            </a:r>
          </a:p>
          <a:p>
            <a:pPr algn="l" marL="863601" indent="-431801" lvl="1">
              <a:lnSpc>
                <a:spcPts val="432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Hierarchical RAG</a:t>
            </a:r>
          </a:p>
          <a:p>
            <a:pPr algn="l" marL="863601" indent="-431801" lvl="1">
              <a:lnSpc>
                <a:spcPts val="432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Capability-Centric RAG</a:t>
            </a:r>
          </a:p>
          <a:p>
            <a:pPr algn="l" marL="863601" indent="-431801" lvl="1">
              <a:lnSpc>
                <a:spcPts val="432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Adaptive &amp; Corrective RAG</a:t>
            </a:r>
          </a:p>
          <a:p>
            <a:pPr algn="l" marL="863601" indent="-431801" lvl="1">
              <a:lnSpc>
                <a:spcPts val="432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Domain-Specific RAG</a:t>
            </a:r>
          </a:p>
          <a:p>
            <a:pPr algn="l" marL="863601" indent="-431801" lvl="1">
              <a:lnSpc>
                <a:spcPts val="432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Unified Domain Agent Stack</a:t>
            </a:r>
          </a:p>
          <a:p>
            <a:pPr algn="l">
              <a:lnSpc>
                <a:spcPts val="4536"/>
              </a:lnSpc>
            </a:pPr>
          </a:p>
          <a:p>
            <a:pPr algn="l">
              <a:lnSpc>
                <a:spcPts val="453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405933" y="1495331"/>
            <a:ext cx="7780933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_____________________________________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77925" y="2642905"/>
            <a:ext cx="7076050" cy="5048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sz="4200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Benchmarks Referenced</a:t>
            </a:r>
          </a:p>
          <a:p>
            <a:pPr algn="ctr">
              <a:lnSpc>
                <a:spcPts val="4536"/>
              </a:lnSpc>
            </a:pPr>
          </a:p>
          <a:p>
            <a:pPr algn="l" marL="863598" indent="-431799" lvl="1">
              <a:lnSpc>
                <a:spcPts val="43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HotpotQA</a:t>
            </a:r>
          </a:p>
          <a:p>
            <a:pPr algn="l" marL="863598" indent="-431799" lvl="1">
              <a:lnSpc>
                <a:spcPts val="43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Natural Questions</a:t>
            </a:r>
          </a:p>
          <a:p>
            <a:pPr algn="l" marL="863598" indent="-431799" lvl="1">
              <a:lnSpc>
                <a:spcPts val="43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MS MARCO</a:t>
            </a:r>
          </a:p>
          <a:p>
            <a:pPr algn="l" marL="863598" indent="-431799" lvl="1">
              <a:lnSpc>
                <a:spcPts val="43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Domain-Specific Industrial Knowledge Bases</a:t>
            </a:r>
          </a:p>
          <a:p>
            <a:pPr algn="l" marL="863598" indent="-431799" lvl="1">
              <a:lnSpc>
                <a:spcPts val="431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Enterprise Knowledge Bases</a:t>
            </a:r>
          </a:p>
          <a:p>
            <a:pPr algn="l">
              <a:lnSpc>
                <a:spcPts val="499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37176" y="3180138"/>
            <a:ext cx="7886700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__________________________________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72600" y="3180138"/>
            <a:ext cx="7886700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______________________________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357247" y="7458197"/>
            <a:ext cx="2930753" cy="2930753"/>
          </a:xfrm>
          <a:custGeom>
            <a:avLst/>
            <a:gdLst/>
            <a:ahLst/>
            <a:cxnLst/>
            <a:rect r="r" b="b" t="t" l="l"/>
            <a:pathLst>
              <a:path h="2930753" w="2930753">
                <a:moveTo>
                  <a:pt x="0" y="0"/>
                </a:moveTo>
                <a:lnTo>
                  <a:pt x="2930753" y="0"/>
                </a:lnTo>
                <a:lnTo>
                  <a:pt x="2930753" y="2930753"/>
                </a:lnTo>
                <a:lnTo>
                  <a:pt x="0" y="29307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0" y="0"/>
            <a:ext cx="2154064" cy="2154064"/>
          </a:xfrm>
          <a:custGeom>
            <a:avLst/>
            <a:gdLst/>
            <a:ahLst/>
            <a:cxnLst/>
            <a:rect r="r" b="b" t="t" l="l"/>
            <a:pathLst>
              <a:path h="2154064" w="2154064">
                <a:moveTo>
                  <a:pt x="0" y="0"/>
                </a:moveTo>
                <a:lnTo>
                  <a:pt x="2154064" y="0"/>
                </a:lnTo>
                <a:lnTo>
                  <a:pt x="2154064" y="2154064"/>
                </a:lnTo>
                <a:lnTo>
                  <a:pt x="0" y="21540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83529" y="1028700"/>
            <a:ext cx="7320943" cy="1507332"/>
            <a:chOff x="0" y="0"/>
            <a:chExt cx="9761257" cy="20097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61257" cy="2009777"/>
            </a:xfrm>
            <a:custGeom>
              <a:avLst/>
              <a:gdLst/>
              <a:ahLst/>
              <a:cxnLst/>
              <a:rect r="r" b="b" t="t" l="l"/>
              <a:pathLst>
                <a:path h="2009777" w="9761257">
                  <a:moveTo>
                    <a:pt x="0" y="0"/>
                  </a:moveTo>
                  <a:lnTo>
                    <a:pt x="9761257" y="0"/>
                  </a:lnTo>
                  <a:lnTo>
                    <a:pt x="9761257" y="2009777"/>
                  </a:lnTo>
                  <a:lnTo>
                    <a:pt x="0" y="2009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44" r="-115455" b="-16985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9761257" cy="1943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Problem Statement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22880" y="3444621"/>
            <a:ext cx="16436420" cy="401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Existing Agentic RAG frameworks rely on predefined or rule-based control strategies limiting their adaptability, scalability, and dynamic optimization in multi / complex retrieval task</a:t>
            </a:r>
          </a:p>
          <a:p>
            <a:pPr algn="l">
              <a:lnSpc>
                <a:spcPts val="4536"/>
              </a:lnSpc>
            </a:pPr>
          </a:p>
          <a:p>
            <a:pPr algn="l">
              <a:lnSpc>
                <a:spcPts val="4536"/>
              </a:lnSpc>
            </a:pPr>
          </a:p>
          <a:p>
            <a:pPr algn="ctr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--</a:t>
            </a: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--- There is a need of a framework that adapts or learns based on  -----query input /  performance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8965426"/>
            <a:ext cx="5734909" cy="2241828"/>
          </a:xfrm>
          <a:custGeom>
            <a:avLst/>
            <a:gdLst/>
            <a:ahLst/>
            <a:cxnLst/>
            <a:rect r="r" b="b" t="t" l="l"/>
            <a:pathLst>
              <a:path h="2241828" w="5734909">
                <a:moveTo>
                  <a:pt x="0" y="0"/>
                </a:moveTo>
                <a:lnTo>
                  <a:pt x="5734909" y="0"/>
                </a:lnTo>
                <a:lnTo>
                  <a:pt x="5734909" y="2241828"/>
                </a:lnTo>
                <a:lnTo>
                  <a:pt x="0" y="2241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69819" y="8965426"/>
            <a:ext cx="5734909" cy="2241828"/>
          </a:xfrm>
          <a:custGeom>
            <a:avLst/>
            <a:gdLst/>
            <a:ahLst/>
            <a:cxnLst/>
            <a:rect r="r" b="b" t="t" l="l"/>
            <a:pathLst>
              <a:path h="2241828" w="5734909">
                <a:moveTo>
                  <a:pt x="0" y="0"/>
                </a:moveTo>
                <a:lnTo>
                  <a:pt x="5734909" y="0"/>
                </a:lnTo>
                <a:lnTo>
                  <a:pt x="5734909" y="2241828"/>
                </a:lnTo>
                <a:lnTo>
                  <a:pt x="0" y="2241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34909" y="8965426"/>
            <a:ext cx="5734909" cy="2241828"/>
          </a:xfrm>
          <a:custGeom>
            <a:avLst/>
            <a:gdLst/>
            <a:ahLst/>
            <a:cxnLst/>
            <a:rect r="r" b="b" t="t" l="l"/>
            <a:pathLst>
              <a:path h="2241828" w="5734909">
                <a:moveTo>
                  <a:pt x="0" y="0"/>
                </a:moveTo>
                <a:lnTo>
                  <a:pt x="5734910" y="0"/>
                </a:lnTo>
                <a:lnTo>
                  <a:pt x="5734910" y="2241828"/>
                </a:lnTo>
                <a:lnTo>
                  <a:pt x="0" y="2241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04728" y="8965426"/>
            <a:ext cx="5734909" cy="2241828"/>
          </a:xfrm>
          <a:custGeom>
            <a:avLst/>
            <a:gdLst/>
            <a:ahLst/>
            <a:cxnLst/>
            <a:rect r="r" b="b" t="t" l="l"/>
            <a:pathLst>
              <a:path h="2241828" w="5734909">
                <a:moveTo>
                  <a:pt x="0" y="0"/>
                </a:moveTo>
                <a:lnTo>
                  <a:pt x="5734910" y="0"/>
                </a:lnTo>
                <a:lnTo>
                  <a:pt x="5734910" y="2241828"/>
                </a:lnTo>
                <a:lnTo>
                  <a:pt x="0" y="2241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575303" y="563287"/>
            <a:ext cx="1047348" cy="1972745"/>
          </a:xfrm>
          <a:custGeom>
            <a:avLst/>
            <a:gdLst/>
            <a:ahLst/>
            <a:cxnLst/>
            <a:rect r="r" b="b" t="t" l="l"/>
            <a:pathLst>
              <a:path h="1972745" w="1047348">
                <a:moveTo>
                  <a:pt x="0" y="0"/>
                </a:moveTo>
                <a:lnTo>
                  <a:pt x="1047348" y="0"/>
                </a:lnTo>
                <a:lnTo>
                  <a:pt x="1047348" y="1972745"/>
                </a:lnTo>
                <a:lnTo>
                  <a:pt x="0" y="1972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22651" y="2043018"/>
            <a:ext cx="9042698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___________________________________________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2800499">
            <a:off x="13554866" y="563287"/>
            <a:ext cx="1047348" cy="1972745"/>
          </a:xfrm>
          <a:custGeom>
            <a:avLst/>
            <a:gdLst/>
            <a:ahLst/>
            <a:cxnLst/>
            <a:rect r="r" b="b" t="t" l="l"/>
            <a:pathLst>
              <a:path h="1972745" w="1047348">
                <a:moveTo>
                  <a:pt x="0" y="0"/>
                </a:moveTo>
                <a:lnTo>
                  <a:pt x="1047349" y="0"/>
                </a:lnTo>
                <a:lnTo>
                  <a:pt x="1047349" y="1972745"/>
                </a:lnTo>
                <a:lnTo>
                  <a:pt x="0" y="1972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57300" y="0"/>
            <a:ext cx="15773400" cy="1232421"/>
            <a:chOff x="0" y="0"/>
            <a:chExt cx="21031200" cy="16432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31200" cy="1643229"/>
            </a:xfrm>
            <a:custGeom>
              <a:avLst/>
              <a:gdLst/>
              <a:ahLst/>
              <a:cxnLst/>
              <a:rect r="r" b="b" t="t" l="l"/>
              <a:pathLst>
                <a:path h="164322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643229"/>
                  </a:lnTo>
                  <a:lnTo>
                    <a:pt x="0" y="16432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715" r="0" b="-23005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21031200" cy="15765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Proposed Methodology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782000" y="1498283"/>
            <a:ext cx="14202980" cy="801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</a:p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To perform a Comparative Analysis of existing Agentic-RAG Methodologies.</a:t>
            </a:r>
          </a:p>
          <a:p>
            <a:pPr algn="l">
              <a:lnSpc>
                <a:spcPts val="4536"/>
              </a:lnSpc>
            </a:pPr>
          </a:p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Identify the key limitations and challenges faced by each methodology.</a:t>
            </a:r>
          </a:p>
          <a:p>
            <a:pPr algn="l">
              <a:lnSpc>
                <a:spcPts val="4536"/>
              </a:lnSpc>
            </a:pPr>
          </a:p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Propose a framework on how to counter some of these limitations through a research / survey paper.</a:t>
            </a:r>
          </a:p>
          <a:p>
            <a:pPr algn="l">
              <a:lnSpc>
                <a:spcPts val="4536"/>
              </a:lnSpc>
            </a:pPr>
          </a:p>
          <a:p>
            <a:pPr algn="ctr">
              <a:lnSpc>
                <a:spcPts val="4536"/>
              </a:lnSpc>
            </a:pPr>
          </a:p>
          <a:p>
            <a:pPr algn="ctr">
              <a:lnSpc>
                <a:spcPts val="4536"/>
              </a:lnSpc>
            </a:pPr>
          </a:p>
          <a:p>
            <a:pPr algn="l">
              <a:lnSpc>
                <a:spcPts val="4536"/>
              </a:lnSpc>
            </a:pPr>
          </a:p>
          <a:p>
            <a:pPr algn="l">
              <a:lnSpc>
                <a:spcPts val="453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34332" y="2036235"/>
            <a:ext cx="1445937" cy="1041075"/>
          </a:xfrm>
          <a:custGeom>
            <a:avLst/>
            <a:gdLst/>
            <a:ahLst/>
            <a:cxnLst/>
            <a:rect r="r" b="b" t="t" l="l"/>
            <a:pathLst>
              <a:path h="1041075" w="1445937">
                <a:moveTo>
                  <a:pt x="0" y="0"/>
                </a:moveTo>
                <a:lnTo>
                  <a:pt x="1445936" y="0"/>
                </a:lnTo>
                <a:lnTo>
                  <a:pt x="1445936" y="1041075"/>
                </a:lnTo>
                <a:lnTo>
                  <a:pt x="0" y="1041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96941" y="957644"/>
            <a:ext cx="10094119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________________________________________________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34332" y="3704373"/>
            <a:ext cx="1445937" cy="1041075"/>
          </a:xfrm>
          <a:custGeom>
            <a:avLst/>
            <a:gdLst/>
            <a:ahLst/>
            <a:cxnLst/>
            <a:rect r="r" b="b" t="t" l="l"/>
            <a:pathLst>
              <a:path h="1041075" w="1445937">
                <a:moveTo>
                  <a:pt x="0" y="0"/>
                </a:moveTo>
                <a:lnTo>
                  <a:pt x="1445936" y="0"/>
                </a:lnTo>
                <a:lnTo>
                  <a:pt x="1445936" y="1041075"/>
                </a:lnTo>
                <a:lnTo>
                  <a:pt x="0" y="1041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34332" y="5545548"/>
            <a:ext cx="1445937" cy="1041075"/>
          </a:xfrm>
          <a:custGeom>
            <a:avLst/>
            <a:gdLst/>
            <a:ahLst/>
            <a:cxnLst/>
            <a:rect r="r" b="b" t="t" l="l"/>
            <a:pathLst>
              <a:path h="1041075" w="1445937">
                <a:moveTo>
                  <a:pt x="0" y="0"/>
                </a:moveTo>
                <a:lnTo>
                  <a:pt x="1445936" y="0"/>
                </a:lnTo>
                <a:lnTo>
                  <a:pt x="1445936" y="1041074"/>
                </a:lnTo>
                <a:lnTo>
                  <a:pt x="0" y="10410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97004" y="8252079"/>
            <a:ext cx="3373959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CORE GOAL</a:t>
            </a: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: -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63956" y="8252079"/>
            <a:ext cx="8252316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Write a Survey / Research Paper based on all findings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4588" y="8522399"/>
            <a:ext cx="3364706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410071" y="2918718"/>
            <a:ext cx="14481685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6275155" y="1720596"/>
            <a:ext cx="1629446" cy="2396244"/>
          </a:xfrm>
          <a:custGeom>
            <a:avLst/>
            <a:gdLst/>
            <a:ahLst/>
            <a:cxnLst/>
            <a:rect r="r" b="b" t="t" l="l"/>
            <a:pathLst>
              <a:path h="2396244" w="1629446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0071" y="2718817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86759" y="2718817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63446" y="2718817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40134" y="2718817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219028" y="5001667"/>
            <a:ext cx="762838" cy="492377"/>
          </a:xfrm>
          <a:custGeom>
            <a:avLst/>
            <a:gdLst/>
            <a:ahLst/>
            <a:cxnLst/>
            <a:rect r="r" b="b" t="t" l="l"/>
            <a:pathLst>
              <a:path h="492377" w="762838">
                <a:moveTo>
                  <a:pt x="0" y="0"/>
                </a:moveTo>
                <a:lnTo>
                  <a:pt x="762838" y="0"/>
                </a:lnTo>
                <a:lnTo>
                  <a:pt x="762838" y="492378"/>
                </a:lnTo>
                <a:lnTo>
                  <a:pt x="0" y="4923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211535" y="343852"/>
            <a:ext cx="327273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TIMELINE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98611" y="694754"/>
            <a:ext cx="6098580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_____________________________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3613" y="4019763"/>
            <a:ext cx="613668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40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[1]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70301" y="4063365"/>
            <a:ext cx="613668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40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[2]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45202" y="4019763"/>
            <a:ext cx="613668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40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[3]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29397" y="4063365"/>
            <a:ext cx="613668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40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[4]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904" y="6190107"/>
            <a:ext cx="3021086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Review Survey / Research Papers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87080" y="6268593"/>
            <a:ext cx="3180110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Perform a Comparative Analysis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39136" y="6347673"/>
            <a:ext cx="4025800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Identiify Key Limitations / Challenges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99791" y="6391275"/>
            <a:ext cx="3272879" cy="195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Propose a framework to solve a challenge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593411" y="4063365"/>
            <a:ext cx="2379266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40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FINAL 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593411" y="6563129"/>
            <a:ext cx="2559745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Survey Paper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5400000">
            <a:off x="5195716" y="5069485"/>
            <a:ext cx="762838" cy="492377"/>
          </a:xfrm>
          <a:custGeom>
            <a:avLst/>
            <a:gdLst/>
            <a:ahLst/>
            <a:cxnLst/>
            <a:rect r="r" b="b" t="t" l="l"/>
            <a:pathLst>
              <a:path h="492377" w="762838">
                <a:moveTo>
                  <a:pt x="0" y="0"/>
                </a:moveTo>
                <a:lnTo>
                  <a:pt x="762838" y="0"/>
                </a:lnTo>
                <a:lnTo>
                  <a:pt x="762838" y="492378"/>
                </a:lnTo>
                <a:lnTo>
                  <a:pt x="0" y="4923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400000">
            <a:off x="9170617" y="5069485"/>
            <a:ext cx="762838" cy="492377"/>
          </a:xfrm>
          <a:custGeom>
            <a:avLst/>
            <a:gdLst/>
            <a:ahLst/>
            <a:cxnLst/>
            <a:rect r="r" b="b" t="t" l="l"/>
            <a:pathLst>
              <a:path h="492377" w="762838">
                <a:moveTo>
                  <a:pt x="0" y="0"/>
                </a:moveTo>
                <a:lnTo>
                  <a:pt x="762838" y="0"/>
                </a:lnTo>
                <a:lnTo>
                  <a:pt x="762838" y="492378"/>
                </a:lnTo>
                <a:lnTo>
                  <a:pt x="0" y="4923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3054812" y="5148566"/>
            <a:ext cx="762838" cy="492377"/>
          </a:xfrm>
          <a:custGeom>
            <a:avLst/>
            <a:gdLst/>
            <a:ahLst/>
            <a:cxnLst/>
            <a:rect r="r" b="b" t="t" l="l"/>
            <a:pathLst>
              <a:path h="492377" w="762838">
                <a:moveTo>
                  <a:pt x="0" y="0"/>
                </a:moveTo>
                <a:lnTo>
                  <a:pt x="762838" y="0"/>
                </a:lnTo>
                <a:lnTo>
                  <a:pt x="762838" y="492377"/>
                </a:lnTo>
                <a:lnTo>
                  <a:pt x="0" y="4923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5400000">
            <a:off x="16491864" y="5148566"/>
            <a:ext cx="762838" cy="492377"/>
          </a:xfrm>
          <a:custGeom>
            <a:avLst/>
            <a:gdLst/>
            <a:ahLst/>
            <a:cxnLst/>
            <a:rect r="r" b="b" t="t" l="l"/>
            <a:pathLst>
              <a:path h="492377" w="762838">
                <a:moveTo>
                  <a:pt x="0" y="0"/>
                </a:moveTo>
                <a:lnTo>
                  <a:pt x="762838" y="0"/>
                </a:lnTo>
                <a:lnTo>
                  <a:pt x="762838" y="492377"/>
                </a:lnTo>
                <a:lnTo>
                  <a:pt x="0" y="4923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6763" y="906885"/>
            <a:ext cx="15773400" cy="1153240"/>
            <a:chOff x="0" y="0"/>
            <a:chExt cx="21031200" cy="15376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31200" cy="1537654"/>
            </a:xfrm>
            <a:custGeom>
              <a:avLst/>
              <a:gdLst/>
              <a:ahLst/>
              <a:cxnLst/>
              <a:rect r="r" b="b" t="t" l="l"/>
              <a:pathLst>
                <a:path h="153765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537654"/>
                  </a:lnTo>
                  <a:lnTo>
                    <a:pt x="0" y="15376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298" r="0" b="-252712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21031200" cy="14709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OBJECTIVES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2585923" y="5890003"/>
            <a:ext cx="1466242" cy="1494478"/>
          </a:xfrm>
          <a:custGeom>
            <a:avLst/>
            <a:gdLst/>
            <a:ahLst/>
            <a:cxnLst/>
            <a:rect r="r" b="b" t="t" l="l"/>
            <a:pathLst>
              <a:path h="1494478" w="1466242">
                <a:moveTo>
                  <a:pt x="0" y="0"/>
                </a:moveTo>
                <a:lnTo>
                  <a:pt x="1466242" y="0"/>
                </a:lnTo>
                <a:lnTo>
                  <a:pt x="1466242" y="1494478"/>
                </a:lnTo>
                <a:lnTo>
                  <a:pt x="0" y="14944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94710" y="1583875"/>
            <a:ext cx="6098580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_____________________________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5400000">
            <a:off x="8323198" y="3585667"/>
            <a:ext cx="1460529" cy="1488655"/>
          </a:xfrm>
          <a:custGeom>
            <a:avLst/>
            <a:gdLst/>
            <a:ahLst/>
            <a:cxnLst/>
            <a:rect r="r" b="b" t="t" l="l"/>
            <a:pathLst>
              <a:path h="1488655" w="1460529">
                <a:moveTo>
                  <a:pt x="0" y="0"/>
                </a:moveTo>
                <a:lnTo>
                  <a:pt x="1460529" y="0"/>
                </a:lnTo>
                <a:lnTo>
                  <a:pt x="1460529" y="1488654"/>
                </a:lnTo>
                <a:lnTo>
                  <a:pt x="0" y="1488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2585923" y="1363275"/>
            <a:ext cx="1466242" cy="1494478"/>
          </a:xfrm>
          <a:custGeom>
            <a:avLst/>
            <a:gdLst/>
            <a:ahLst/>
            <a:cxnLst/>
            <a:rect r="r" b="b" t="t" l="l"/>
            <a:pathLst>
              <a:path h="1494478" w="1466242">
                <a:moveTo>
                  <a:pt x="0" y="0"/>
                </a:moveTo>
                <a:lnTo>
                  <a:pt x="1466242" y="0"/>
                </a:lnTo>
                <a:lnTo>
                  <a:pt x="1466242" y="1494478"/>
                </a:lnTo>
                <a:lnTo>
                  <a:pt x="0" y="14944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4094336" y="5884831"/>
            <a:ext cx="1390042" cy="1416810"/>
          </a:xfrm>
          <a:custGeom>
            <a:avLst/>
            <a:gdLst/>
            <a:ahLst/>
            <a:cxnLst/>
            <a:rect r="r" b="b" t="t" l="l"/>
            <a:pathLst>
              <a:path h="1416810" w="1390042">
                <a:moveTo>
                  <a:pt x="0" y="0"/>
                </a:moveTo>
                <a:lnTo>
                  <a:pt x="1390042" y="0"/>
                </a:lnTo>
                <a:lnTo>
                  <a:pt x="1390042" y="1416811"/>
                </a:lnTo>
                <a:lnTo>
                  <a:pt x="0" y="1416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4056236" y="1363275"/>
            <a:ext cx="1466242" cy="1494478"/>
          </a:xfrm>
          <a:custGeom>
            <a:avLst/>
            <a:gdLst/>
            <a:ahLst/>
            <a:cxnLst/>
            <a:rect r="r" b="b" t="t" l="l"/>
            <a:pathLst>
              <a:path h="1494478" w="1466242">
                <a:moveTo>
                  <a:pt x="0" y="0"/>
                </a:moveTo>
                <a:lnTo>
                  <a:pt x="1466242" y="0"/>
                </a:lnTo>
                <a:lnTo>
                  <a:pt x="1466242" y="1494478"/>
                </a:lnTo>
                <a:lnTo>
                  <a:pt x="0" y="14944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47246" y="3269800"/>
            <a:ext cx="3543596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Reduced reliance on predefined rules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7246" y="7903763"/>
            <a:ext cx="3458120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Defined research gap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94710" y="5675521"/>
            <a:ext cx="5917506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Proposed conceptual solution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72120" y="7675163"/>
            <a:ext cx="4434474" cy="146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Foundation for future experimental validation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91651" y="3351205"/>
            <a:ext cx="2795412" cy="97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Drafted survey paper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0" y="974932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611028" y="974932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7" y="0"/>
                </a:lnTo>
                <a:lnTo>
                  <a:pt x="2611027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222055" y="974932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789927" y="974932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400955" y="974932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7" y="0"/>
                </a:lnTo>
                <a:lnTo>
                  <a:pt x="2611027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972705" y="974932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7" y="0"/>
                </a:lnTo>
                <a:lnTo>
                  <a:pt x="2611027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583732" y="974932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1376" y="-40952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7" y="0"/>
                </a:lnTo>
                <a:lnTo>
                  <a:pt x="2611027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400000">
            <a:off x="-1305514" y="1406324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-1268730" y="4017352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4"/>
                </a:lnTo>
                <a:lnTo>
                  <a:pt x="0" y="1020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5400000">
            <a:off x="-1268730" y="6583801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4"/>
                </a:lnTo>
                <a:lnTo>
                  <a:pt x="0" y="1020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5400000">
            <a:off x="-1268730" y="9171555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4"/>
                </a:lnTo>
                <a:lnTo>
                  <a:pt x="0" y="1020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5400000">
            <a:off x="16889246" y="160017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4"/>
                </a:lnTo>
                <a:lnTo>
                  <a:pt x="0" y="1020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5400000">
            <a:off x="16889246" y="409875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4"/>
                </a:lnTo>
                <a:lnTo>
                  <a:pt x="0" y="1020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5400000">
            <a:off x="16889246" y="6628380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4"/>
                </a:lnTo>
                <a:lnTo>
                  <a:pt x="0" y="1020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5400000">
            <a:off x="16889246" y="9194829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4"/>
                </a:lnTo>
                <a:lnTo>
                  <a:pt x="0" y="1020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5400000">
            <a:off x="-1268730" y="-1139576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4"/>
                </a:lnTo>
                <a:lnTo>
                  <a:pt x="0" y="1020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2671226" y="-40952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7" y="0"/>
                </a:lnTo>
                <a:lnTo>
                  <a:pt x="2611027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725186" y="-40952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114159" y="-40952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7" y="0"/>
                </a:lnTo>
                <a:lnTo>
                  <a:pt x="2611027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5400000">
            <a:off x="16889246" y="-919864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4"/>
                </a:lnTo>
                <a:lnTo>
                  <a:pt x="0" y="1020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0503131" y="-40952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7862593" y="-40952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5282253" y="-409527"/>
            <a:ext cx="2611028" cy="1020674"/>
          </a:xfrm>
          <a:custGeom>
            <a:avLst/>
            <a:gdLst/>
            <a:ahLst/>
            <a:cxnLst/>
            <a:rect r="r" b="b" t="t" l="l"/>
            <a:pathLst>
              <a:path h="1020674" w="2611028">
                <a:moveTo>
                  <a:pt x="0" y="0"/>
                </a:moveTo>
                <a:lnTo>
                  <a:pt x="2611028" y="0"/>
                </a:lnTo>
                <a:lnTo>
                  <a:pt x="2611028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5860" y="462342"/>
            <a:ext cx="15773400" cy="1132717"/>
            <a:chOff x="0" y="0"/>
            <a:chExt cx="21031200" cy="15102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31200" cy="1510290"/>
            </a:xfrm>
            <a:custGeom>
              <a:avLst/>
              <a:gdLst/>
              <a:ahLst/>
              <a:cxnLst/>
              <a:rect r="r" b="b" t="t" l="l"/>
              <a:pathLst>
                <a:path h="151029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510290"/>
                  </a:lnTo>
                  <a:lnTo>
                    <a:pt x="0" y="15102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565" r="0" b="-25910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21031200" cy="144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 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14772" y="2341690"/>
            <a:ext cx="16795616" cy="6207234"/>
          </a:xfrm>
          <a:custGeom>
            <a:avLst/>
            <a:gdLst/>
            <a:ahLst/>
            <a:cxnLst/>
            <a:rect r="r" b="b" t="t" l="l"/>
            <a:pathLst>
              <a:path h="6207234" w="16795616">
                <a:moveTo>
                  <a:pt x="0" y="0"/>
                </a:moveTo>
                <a:lnTo>
                  <a:pt x="16795616" y="0"/>
                </a:lnTo>
                <a:lnTo>
                  <a:pt x="16795616" y="6207234"/>
                </a:lnTo>
                <a:lnTo>
                  <a:pt x="0" y="62072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7" t="0" r="-27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03270" y="1372364"/>
            <a:ext cx="6098580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_____________________________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5400000">
            <a:off x="713447" y="101325"/>
            <a:ext cx="1797709" cy="1595058"/>
          </a:xfrm>
          <a:custGeom>
            <a:avLst/>
            <a:gdLst/>
            <a:ahLst/>
            <a:cxnLst/>
            <a:rect r="r" b="b" t="t" l="l"/>
            <a:pathLst>
              <a:path h="1595058" w="1797709">
                <a:moveTo>
                  <a:pt x="0" y="0"/>
                </a:moveTo>
                <a:lnTo>
                  <a:pt x="1797709" y="0"/>
                </a:lnTo>
                <a:lnTo>
                  <a:pt x="1797709" y="1595059"/>
                </a:lnTo>
                <a:lnTo>
                  <a:pt x="0" y="15950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5914004" y="168994"/>
            <a:ext cx="1797709" cy="1595058"/>
          </a:xfrm>
          <a:custGeom>
            <a:avLst/>
            <a:gdLst/>
            <a:ahLst/>
            <a:cxnLst/>
            <a:rect r="r" b="b" t="t" l="l"/>
            <a:pathLst>
              <a:path h="1595058" w="1797709">
                <a:moveTo>
                  <a:pt x="0" y="0"/>
                </a:moveTo>
                <a:lnTo>
                  <a:pt x="1797709" y="0"/>
                </a:lnTo>
                <a:lnTo>
                  <a:pt x="1797709" y="1595058"/>
                </a:lnTo>
                <a:lnTo>
                  <a:pt x="0" y="15950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57300" y="0"/>
            <a:ext cx="15773400" cy="1331020"/>
            <a:chOff x="0" y="0"/>
            <a:chExt cx="21031200" cy="17746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31200" cy="1774694"/>
            </a:xfrm>
            <a:custGeom>
              <a:avLst/>
              <a:gdLst/>
              <a:ahLst/>
              <a:cxnLst/>
              <a:rect r="r" b="b" t="t" l="l"/>
              <a:pathLst>
                <a:path h="177469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74694"/>
                  </a:lnTo>
                  <a:lnTo>
                    <a:pt x="0" y="17746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217" r="0" b="-20560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21031200" cy="1708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References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41830" y="1562964"/>
            <a:ext cx="15404340" cy="8724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8"/>
              </a:lnSpc>
            </a:pP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[1]   Agentic AI: Autonomous Intelligence for Complex Goals – A      </a:t>
            </a:r>
          </a:p>
          <a:p>
            <a:pPr algn="just">
              <a:lnSpc>
                <a:spcPts val="3638"/>
              </a:lnSpc>
            </a:pP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        Comprehensive Survey, 2025.</a:t>
            </a:r>
          </a:p>
          <a:p>
            <a:pPr algn="just">
              <a:lnSpc>
                <a:spcPts val="3638"/>
              </a:lnSpc>
            </a:pPr>
          </a:p>
          <a:p>
            <a:pPr algn="just">
              <a:lnSpc>
                <a:spcPts val="3638"/>
              </a:lnSpc>
            </a:pP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[2]    Adaptive Agentic Retrieval-Augmented Generation, SSRN Working    </a:t>
            </a:r>
          </a:p>
          <a:p>
            <a:pPr algn="just">
              <a:lnSpc>
                <a:spcPts val="3638"/>
              </a:lnSpc>
            </a:pP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         </a:t>
            </a: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Paper No. 5188363, 2025.</a:t>
            </a:r>
          </a:p>
          <a:p>
            <a:pPr algn="just">
              <a:lnSpc>
                <a:spcPts val="3638"/>
              </a:lnSpc>
            </a:pPr>
          </a:p>
          <a:p>
            <a:pPr algn="just">
              <a:lnSpc>
                <a:spcPts val="3638"/>
              </a:lnSpc>
            </a:pP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[3]    Goal-Oriented Agentic Retrieval-Augmented Generation </a:t>
            </a:r>
          </a:p>
          <a:p>
            <a:pPr algn="just">
              <a:lnSpc>
                <a:spcPts val="3638"/>
              </a:lnSpc>
            </a:pP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         </a:t>
            </a: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Frameworks, 2025.</a:t>
            </a:r>
          </a:p>
          <a:p>
            <a:pPr algn="just">
              <a:lnSpc>
                <a:spcPts val="3638"/>
              </a:lnSpc>
            </a:pPr>
          </a:p>
          <a:p>
            <a:pPr algn="just">
              <a:lnSpc>
                <a:spcPts val="3638"/>
              </a:lnSpc>
            </a:pP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[4]    Capability-Centric Agentic RAG Architectures, 2025.</a:t>
            </a:r>
          </a:p>
          <a:p>
            <a:pPr algn="just">
              <a:lnSpc>
                <a:spcPts val="3638"/>
              </a:lnSpc>
            </a:pPr>
          </a:p>
          <a:p>
            <a:pPr algn="just">
              <a:lnSpc>
                <a:spcPts val="3638"/>
              </a:lnSpc>
            </a:pP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[5]    Domain-Specific Agentic RAG Systems and Unified Domain Agent </a:t>
            </a:r>
          </a:p>
          <a:p>
            <a:pPr algn="just">
              <a:lnSpc>
                <a:spcPts val="3638"/>
              </a:lnSpc>
            </a:pP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         </a:t>
            </a: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Stack, 2025.</a:t>
            </a:r>
          </a:p>
          <a:p>
            <a:pPr algn="just">
              <a:lnSpc>
                <a:spcPts val="3638"/>
              </a:lnSpc>
            </a:pPr>
          </a:p>
          <a:p>
            <a:pPr algn="just">
              <a:lnSpc>
                <a:spcPts val="3638"/>
              </a:lnSpc>
            </a:pP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[6]    Multi-Agent Retrieval-Augmented Generation Systems, 2024.</a:t>
            </a:r>
          </a:p>
          <a:p>
            <a:pPr algn="just">
              <a:lnSpc>
                <a:spcPts val="3638"/>
              </a:lnSpc>
            </a:pP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  </a:t>
            </a:r>
          </a:p>
          <a:p>
            <a:pPr algn="just">
              <a:lnSpc>
                <a:spcPts val="3638"/>
              </a:lnSpc>
            </a:pP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[7]    Future Internet, vol. 17, no. 4, 2025 – Agentic Retrieval-Augmented  </a:t>
            </a:r>
          </a:p>
          <a:p>
            <a:pPr algn="just">
              <a:lnSpc>
                <a:spcPts val="3638"/>
              </a:lnSpc>
            </a:pP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        </a:t>
            </a:r>
            <a:r>
              <a:rPr lang="en-US" sz="336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Generation Study.</a:t>
            </a:r>
          </a:p>
          <a:p>
            <a:pPr algn="just">
              <a:lnSpc>
                <a:spcPts val="363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094710" y="838006"/>
            <a:ext cx="6098580" cy="49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_____________________________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40523" y="3577662"/>
            <a:ext cx="7886700" cy="3656076"/>
            <a:chOff x="0" y="0"/>
            <a:chExt cx="10515600" cy="48747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515600" cy="4874769"/>
            </a:xfrm>
            <a:custGeom>
              <a:avLst/>
              <a:gdLst/>
              <a:ahLst/>
              <a:cxnLst/>
              <a:rect r="r" b="b" t="t" l="l"/>
              <a:pathLst>
                <a:path h="4874769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4874769"/>
                  </a:lnTo>
                  <a:lnTo>
                    <a:pt x="0" y="48747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39" r="0" b="30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133350"/>
              <a:ext cx="10515600" cy="4741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2000">
                  <a:solidFill>
                    <a:srgbClr val="000000"/>
                  </a:solidFill>
                  <a:latin typeface="Canva Student Font"/>
                  <a:ea typeface="Canva Student Font"/>
                  <a:cs typeface="Canva Student Font"/>
                  <a:sym typeface="Canva Student Font"/>
                </a:rPr>
                <a:t>    </a:t>
              </a:r>
              <a:r>
                <a:rPr lang="en-US" sz="12000">
                  <a:solidFill>
                    <a:srgbClr val="000000"/>
                  </a:solidFill>
                  <a:latin typeface="Canva Student Font"/>
                  <a:ea typeface="Canva Student Font"/>
                  <a:cs typeface="Canva Student Font"/>
                  <a:sym typeface="Canva Student Font"/>
                </a:rPr>
                <a:t>Thank </a:t>
              </a:r>
            </a:p>
            <a:p>
              <a:pPr algn="l">
                <a:lnSpc>
                  <a:spcPts val="12960"/>
                </a:lnSpc>
              </a:pPr>
              <a:r>
                <a:rPr lang="en-US" sz="12000">
                  <a:solidFill>
                    <a:srgbClr val="000000"/>
                  </a:solidFill>
                  <a:latin typeface="Canva Student Font"/>
                  <a:ea typeface="Canva Student Font"/>
                  <a:cs typeface="Canva Student Font"/>
                  <a:sym typeface="Canva Student Font"/>
                </a:rPr>
                <a:t>            You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5400000">
            <a:off x="14766733" y="8471009"/>
            <a:ext cx="2733976" cy="4308558"/>
          </a:xfrm>
          <a:custGeom>
            <a:avLst/>
            <a:gdLst/>
            <a:ahLst/>
            <a:cxnLst/>
            <a:rect r="r" b="b" t="t" l="l"/>
            <a:pathLst>
              <a:path h="4308558" w="2733976">
                <a:moveTo>
                  <a:pt x="0" y="0"/>
                </a:moveTo>
                <a:lnTo>
                  <a:pt x="2733976" y="0"/>
                </a:lnTo>
                <a:lnTo>
                  <a:pt x="2733976" y="4308558"/>
                </a:lnTo>
                <a:lnTo>
                  <a:pt x="0" y="4308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61474" y="-2057400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6921012" y="-1419853"/>
            <a:ext cx="2733976" cy="4308558"/>
          </a:xfrm>
          <a:custGeom>
            <a:avLst/>
            <a:gdLst/>
            <a:ahLst/>
            <a:cxnLst/>
            <a:rect r="r" b="b" t="t" l="l"/>
            <a:pathLst>
              <a:path h="4308558" w="2733976">
                <a:moveTo>
                  <a:pt x="0" y="0"/>
                </a:moveTo>
                <a:lnTo>
                  <a:pt x="2733976" y="0"/>
                </a:lnTo>
                <a:lnTo>
                  <a:pt x="2733976" y="4308558"/>
                </a:lnTo>
                <a:lnTo>
                  <a:pt x="0" y="4308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05276" y="7322961"/>
            <a:ext cx="2733976" cy="4308558"/>
          </a:xfrm>
          <a:custGeom>
            <a:avLst/>
            <a:gdLst/>
            <a:ahLst/>
            <a:cxnLst/>
            <a:rect r="r" b="b" t="t" l="l"/>
            <a:pathLst>
              <a:path h="4308558" w="2733976">
                <a:moveTo>
                  <a:pt x="0" y="0"/>
                </a:moveTo>
                <a:lnTo>
                  <a:pt x="2733976" y="0"/>
                </a:lnTo>
                <a:lnTo>
                  <a:pt x="2733976" y="4308557"/>
                </a:lnTo>
                <a:lnTo>
                  <a:pt x="0" y="4308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7811" y="2888705"/>
            <a:ext cx="4793154" cy="1873687"/>
          </a:xfrm>
          <a:custGeom>
            <a:avLst/>
            <a:gdLst/>
            <a:ahLst/>
            <a:cxnLst/>
            <a:rect r="r" b="b" t="t" l="l"/>
            <a:pathLst>
              <a:path h="1873687" w="4793154">
                <a:moveTo>
                  <a:pt x="0" y="0"/>
                </a:moveTo>
                <a:lnTo>
                  <a:pt x="4793154" y="0"/>
                </a:lnTo>
                <a:lnTo>
                  <a:pt x="4793154" y="1873687"/>
                </a:lnTo>
                <a:lnTo>
                  <a:pt x="0" y="18736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27858" y="5405700"/>
            <a:ext cx="4793154" cy="1873687"/>
          </a:xfrm>
          <a:custGeom>
            <a:avLst/>
            <a:gdLst/>
            <a:ahLst/>
            <a:cxnLst/>
            <a:rect r="r" b="b" t="t" l="l"/>
            <a:pathLst>
              <a:path h="1873687" w="4793154">
                <a:moveTo>
                  <a:pt x="0" y="0"/>
                </a:moveTo>
                <a:lnTo>
                  <a:pt x="4793154" y="0"/>
                </a:lnTo>
                <a:lnTo>
                  <a:pt x="4793154" y="1873688"/>
                </a:lnTo>
                <a:lnTo>
                  <a:pt x="0" y="18736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DAHBUc-fUrI</dc:identifier>
  <dcterms:modified xsi:type="dcterms:W3CDTF">2011-08-01T06:04:30Z</dcterms:modified>
  <cp:revision>1</cp:revision>
  <dc:title>Agentic Retrieval-Augmented Generation: A Comparative Survey</dc:title>
</cp:coreProperties>
</file>